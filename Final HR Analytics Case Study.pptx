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5" r:id="rId1"/>
  </p:sldMasterIdLst>
  <p:notesMasterIdLst>
    <p:notesMasterId r:id="rId16"/>
  </p:notesMasterIdLst>
  <p:sldIdLst>
    <p:sldId id="256" r:id="rId2"/>
    <p:sldId id="257" r:id="rId3"/>
    <p:sldId id="287" r:id="rId4"/>
    <p:sldId id="288" r:id="rId5"/>
    <p:sldId id="268" r:id="rId6"/>
    <p:sldId id="289" r:id="rId7"/>
    <p:sldId id="281" r:id="rId8"/>
    <p:sldId id="290" r:id="rId9"/>
    <p:sldId id="292" r:id="rId10"/>
    <p:sldId id="258" r:id="rId11"/>
    <p:sldId id="260" r:id="rId12"/>
    <p:sldId id="294" r:id="rId13"/>
    <p:sldId id="264" r:id="rId14"/>
    <p:sldId id="28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54" autoAdjust="0"/>
    <p:restoredTop sz="86463" autoAdjust="0"/>
  </p:normalViewPr>
  <p:slideViewPr>
    <p:cSldViewPr snapToGrid="0">
      <p:cViewPr varScale="1">
        <p:scale>
          <a:sx n="110" d="100"/>
          <a:sy n="110" d="100"/>
        </p:scale>
        <p:origin x="392" y="168"/>
      </p:cViewPr>
      <p:guideLst/>
    </p:cSldViewPr>
  </p:slideViewPr>
  <p:outlineViewPr>
    <p:cViewPr>
      <p:scale>
        <a:sx n="33" d="100"/>
        <a:sy n="33" d="100"/>
      </p:scale>
      <p:origin x="0" y="-2011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199E4-72C9-476A-90BD-5771EFA89B30}" type="datetimeFigureOut">
              <a:rPr lang="en-US" smtClean="0"/>
              <a:t>8/8/19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F1D3C-20A1-4923-A338-734EC3AF7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From</a:t>
            </a:r>
            <a:r>
              <a:rPr lang="en-US" baseline="0" dirty="0"/>
              <a:t> Matplotlib mention Performance Ratings were noted at only at 3 and 4, no 1 or 2.</a:t>
            </a:r>
          </a:p>
          <a:p>
            <a:pPr marL="628650" lvl="1" indent="-171450">
              <a:buFontTx/>
              <a:buChar char="-"/>
            </a:pPr>
            <a:r>
              <a:rPr lang="en-US" baseline="0" dirty="0"/>
              <a:t>Smallest salary hike is 11% largest was 25%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For Seaborn mention that younger people tend to leave the company more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1D3C-20A1-4923-A338-734EC3AF73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10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aseline="0" dirty="0"/>
              <a:t>People that travel frequently are 10% more likely to leave the company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Environmental satisfaction matters, employees 10%  more likely to leave the company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Employees with a poor a work life balance are 13% more likely to leave the company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The longest-term employees are on the lower end of the pay spectrum.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1D3C-20A1-4923-A338-734EC3AF73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8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45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83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12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8/8/19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1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5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732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2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8/8/19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4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3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547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47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7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218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485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92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1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75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vjchoudhary7/hr-analytics-case-study#general_data.cs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4005-762C-4A1F-8EE7-26FCE2D28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824" y="1160864"/>
            <a:ext cx="10617693" cy="2043975"/>
          </a:xfrm>
        </p:spPr>
        <p:txBody>
          <a:bodyPr/>
          <a:lstStyle/>
          <a:p>
            <a:pPr algn="ctr"/>
            <a:r>
              <a:rPr lang="en-US" dirty="0"/>
              <a:t>Employee Attrition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CFA21-5DD0-4093-842F-B42344746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6463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Greg Norman</a:t>
            </a:r>
          </a:p>
          <a:p>
            <a:r>
              <a:rPr lang="en-US" dirty="0"/>
              <a:t>Isaac Winters</a:t>
            </a:r>
          </a:p>
          <a:p>
            <a:r>
              <a:rPr lang="en-US" dirty="0" err="1"/>
              <a:t>Siwoo</a:t>
            </a:r>
            <a:r>
              <a:rPr lang="en-US" dirty="0"/>
              <a:t> Lee</a:t>
            </a:r>
          </a:p>
          <a:p>
            <a:r>
              <a:rPr lang="en-US" dirty="0"/>
              <a:t>Robert Danielson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2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D6F5-7F3E-4DAD-A36A-5C5230502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80729"/>
          </a:xfrm>
        </p:spPr>
        <p:txBody>
          <a:bodyPr/>
          <a:lstStyle/>
          <a:p>
            <a:pPr algn="ctr"/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7DA4-9D17-4318-8744-2DA1D9DA9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13896"/>
            <a:ext cx="8946541" cy="493450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Current Attrition Rate is over 15% per year</a:t>
            </a:r>
          </a:p>
          <a:p>
            <a:endParaRPr lang="en-US" sz="2400" dirty="0"/>
          </a:p>
          <a:p>
            <a:r>
              <a:rPr lang="en-US" sz="2400" dirty="0"/>
              <a:t>Attrition Costs:</a:t>
            </a:r>
          </a:p>
          <a:p>
            <a:pPr lvl="1"/>
            <a:r>
              <a:rPr lang="en-US" sz="2000" dirty="0"/>
              <a:t>Projects Fall Behind</a:t>
            </a:r>
          </a:p>
          <a:p>
            <a:pPr lvl="1"/>
            <a:r>
              <a:rPr lang="en-US" sz="2000" dirty="0"/>
              <a:t>Recruiting Costs</a:t>
            </a:r>
          </a:p>
          <a:p>
            <a:pPr lvl="1"/>
            <a:r>
              <a:rPr lang="en-US" sz="2000" dirty="0"/>
              <a:t>Training New Hires</a:t>
            </a:r>
            <a:br>
              <a:rPr lang="en-US" dirty="0"/>
            </a:br>
            <a:r>
              <a:rPr lang="en-US" dirty="0"/>
              <a:t>	</a:t>
            </a:r>
          </a:p>
          <a:p>
            <a:r>
              <a:rPr lang="en-US" sz="2400" dirty="0"/>
              <a:t>What factors go into the high attrition rate?</a:t>
            </a:r>
          </a:p>
          <a:p>
            <a:r>
              <a:rPr lang="en-US" sz="2400" dirty="0"/>
              <a:t>Predicting who is likely to leave.</a:t>
            </a:r>
          </a:p>
          <a:p>
            <a:endParaRPr lang="en-US" dirty="0"/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https://www.kaggle.com/vjchoudhary7/hr-analytics-case-study#general_data.csv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1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C163-20F5-4B0F-9D3A-2DD9CE42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5219"/>
          </a:xfrm>
        </p:spPr>
        <p:txBody>
          <a:bodyPr/>
          <a:lstStyle/>
          <a:p>
            <a:pPr algn="ctr"/>
            <a:r>
              <a:rPr lang="en-US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B74E-C6BB-4BAE-B107-13FFAAC31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33" y="1145220"/>
            <a:ext cx="4385568" cy="5103180"/>
          </a:xfrm>
        </p:spPr>
        <p:txBody>
          <a:bodyPr/>
          <a:lstStyle/>
          <a:p>
            <a:r>
              <a:rPr lang="en-US" dirty="0"/>
              <a:t>Import CSV using Pandas</a:t>
            </a:r>
          </a:p>
          <a:p>
            <a:pPr lvl="1"/>
            <a:r>
              <a:rPr lang="en-US" dirty="0"/>
              <a:t>Merged three datasets using SQL</a:t>
            </a:r>
          </a:p>
          <a:p>
            <a:endParaRPr lang="en-US" dirty="0"/>
          </a:p>
          <a:p>
            <a:r>
              <a:rPr lang="en-US" dirty="0"/>
              <a:t>Exploratory Analysis using:</a:t>
            </a:r>
          </a:p>
          <a:p>
            <a:pPr lvl="1"/>
            <a:r>
              <a:rPr lang="en-US" dirty="0" err="1"/>
              <a:t>MatPlotLib</a:t>
            </a:r>
            <a:endParaRPr lang="en-US" dirty="0"/>
          </a:p>
          <a:p>
            <a:pPr lvl="1"/>
            <a:r>
              <a:rPr lang="en-US" dirty="0"/>
              <a:t>Seaborn</a:t>
            </a:r>
          </a:p>
          <a:p>
            <a:pPr lvl="1"/>
            <a:r>
              <a:rPr lang="en-US" dirty="0"/>
              <a:t>Tableau</a:t>
            </a:r>
          </a:p>
          <a:p>
            <a:endParaRPr lang="en-US" dirty="0"/>
          </a:p>
          <a:p>
            <a:r>
              <a:rPr lang="en-US" dirty="0"/>
              <a:t>Convert to fields to numeric using  </a:t>
            </a:r>
            <a:r>
              <a:rPr lang="en-US" dirty="0" err="1"/>
              <a:t>get_dummies</a:t>
            </a:r>
            <a:r>
              <a:rPr lang="en-US" dirty="0"/>
              <a:t> 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580B2F56-D012-4BD7-BD5E-7BAC257AA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087" y="1256845"/>
            <a:ext cx="3605645" cy="487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9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9840-79FC-4E70-BED7-6ECEBCFD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14425"/>
          </a:xfrm>
        </p:spPr>
        <p:txBody>
          <a:bodyPr/>
          <a:lstStyle/>
          <a:p>
            <a:pPr algn="ctr"/>
            <a:r>
              <a:rPr lang="en-US" dirty="0"/>
              <a:t>Matplotlib and Seaborn Research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36859-D00A-47C4-90E3-E71880ACCC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80723" y="1258925"/>
            <a:ext cx="5979533" cy="4484649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3E3385-9B9D-4403-9C67-7F4A8BB350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91040" y="1258926"/>
            <a:ext cx="5262808" cy="448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8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3ADE-F4E6-4AFC-A1C0-DE17F9A2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957" y="280439"/>
            <a:ext cx="5210956" cy="938760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2214DFA-A257-4BA4-A9DB-0C9425B04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937" t="25155" r="1968" b="7557"/>
          <a:stretch/>
        </p:blipFill>
        <p:spPr>
          <a:xfrm>
            <a:off x="1512581" y="1361853"/>
            <a:ext cx="9275299" cy="49559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151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4624-7513-4FDE-A4B0-7FCF700C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122217"/>
          </a:xfrm>
        </p:spPr>
        <p:txBody>
          <a:bodyPr/>
          <a:lstStyle/>
          <a:p>
            <a:pPr algn="ctr"/>
            <a:r>
              <a:rPr lang="en-US" dirty="0"/>
              <a:t>Tableau Research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AB366C-58BF-4B2C-8867-D95DF99112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22661" y="997528"/>
            <a:ext cx="4395788" cy="263928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C211CE-9738-4392-AF47-CD63B00BCC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236520" y="997528"/>
            <a:ext cx="4291444" cy="2639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55FCDB-F6A8-4523-B380-568A8E5DD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519" y="3896591"/>
            <a:ext cx="4291445" cy="2753592"/>
          </a:xfrm>
          <a:prstGeom prst="rect">
            <a:avLst/>
          </a:prstGeom>
        </p:spPr>
      </p:pic>
      <p:pic>
        <p:nvPicPr>
          <p:cNvPr id="7" name="Content Placeholder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CB80C36-B40C-B14D-8863-504F1A9A3CF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6046" t="26509" r="19921" b="22666"/>
          <a:stretch/>
        </p:blipFill>
        <p:spPr>
          <a:xfrm>
            <a:off x="6382783" y="3890582"/>
            <a:ext cx="4572698" cy="29674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4349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25C3-94C6-49A8-9951-64D9D22E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625" y="452718"/>
            <a:ext cx="7013646" cy="1400530"/>
          </a:xfrm>
        </p:spPr>
        <p:txBody>
          <a:bodyPr/>
          <a:lstStyle/>
          <a:p>
            <a:r>
              <a:rPr lang="en-US" dirty="0"/>
              <a:t>Monthly Income</a:t>
            </a:r>
          </a:p>
        </p:txBody>
      </p:sp>
      <p:pic>
        <p:nvPicPr>
          <p:cNvPr id="7" name="Content Placeholder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0692DB4-5949-4983-87CC-F86770DFC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077" t="24506" r="14831" b="21514"/>
          <a:stretch/>
        </p:blipFill>
        <p:spPr>
          <a:xfrm>
            <a:off x="607331" y="1152982"/>
            <a:ext cx="11091814" cy="52522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187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D9B735-09F4-4626-B58D-AD9AFAE9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0655"/>
          </a:xfrm>
        </p:spPr>
        <p:txBody>
          <a:bodyPr/>
          <a:lstStyle/>
          <a:p>
            <a:pPr algn="ctr"/>
            <a:r>
              <a:rPr lang="en-US" dirty="0"/>
              <a:t>Major Exploratory Findings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ECFFC-F6CD-4E1D-A9DD-7AD3D452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80656"/>
            <a:ext cx="10066915" cy="5167744"/>
          </a:xfrm>
        </p:spPr>
        <p:txBody>
          <a:bodyPr/>
          <a:lstStyle/>
          <a:p>
            <a:r>
              <a:rPr lang="en-US" sz="2400" dirty="0"/>
              <a:t>Tripled records, possibly to increase the size of the data set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Not all Employees Completed Employee Survey</a:t>
            </a:r>
            <a:endParaRPr lang="en-US" dirty="0"/>
          </a:p>
          <a:p>
            <a:endParaRPr lang="en-US" dirty="0"/>
          </a:p>
          <a:p>
            <a:r>
              <a:rPr lang="en-US" sz="2400" dirty="0"/>
              <a:t>Classification Problem:</a:t>
            </a:r>
          </a:p>
          <a:p>
            <a:pPr lvl="1"/>
            <a:r>
              <a:rPr lang="en-US" sz="2000" dirty="0"/>
              <a:t>Logistic Regression</a:t>
            </a:r>
          </a:p>
          <a:p>
            <a:pPr lvl="1"/>
            <a:r>
              <a:rPr lang="en-US" sz="2000" dirty="0"/>
              <a:t>Random Forest</a:t>
            </a:r>
          </a:p>
          <a:p>
            <a:pPr lvl="1"/>
            <a:r>
              <a:rPr lang="en-US" sz="2000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15874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DD70-554F-49C5-888C-06C6CFF6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pPr algn="ctr"/>
            <a:r>
              <a:rPr lang="en-US" dirty="0"/>
              <a:t>Logistic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C6940-49FC-4DB8-B6E2-790E135C6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32" y="1998786"/>
            <a:ext cx="4697026" cy="4195481"/>
          </a:xfrm>
        </p:spPr>
        <p:txBody>
          <a:bodyPr/>
          <a:lstStyle/>
          <a:p>
            <a:r>
              <a:rPr lang="en-US" dirty="0"/>
              <a:t>Use one feature – Accuracy – 0.838</a:t>
            </a:r>
          </a:p>
          <a:p>
            <a:r>
              <a:rPr lang="en-US" dirty="0"/>
              <a:t>Number of Companies Worked For, Total Working Years, Years with Current Manager, Years at Company, Environmental Satisfaction, Job Satisfaction, Work Balance Accuracy – 0.845</a:t>
            </a:r>
          </a:p>
          <a:p>
            <a:r>
              <a:rPr lang="en-US" dirty="0"/>
              <a:t>Marital </a:t>
            </a:r>
            <a:r>
              <a:rPr lang="en-US" dirty="0" err="1"/>
              <a:t>Status_Single</a:t>
            </a:r>
            <a:r>
              <a:rPr lang="en-US" dirty="0"/>
              <a:t>, Business </a:t>
            </a:r>
            <a:r>
              <a:rPr lang="en-US" dirty="0" err="1"/>
              <a:t>Travel_Non</a:t>
            </a:r>
            <a:r>
              <a:rPr lang="en-US" dirty="0"/>
              <a:t> Travel, Business </a:t>
            </a:r>
            <a:r>
              <a:rPr lang="en-US" dirty="0" err="1"/>
              <a:t>Travel_Frequently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All features Accuracy – 0.866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4075C63-D0D6-4EF9-9972-D5F427CEF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69" t="27036" r="14286" b="31943"/>
          <a:stretch/>
        </p:blipFill>
        <p:spPr>
          <a:xfrm>
            <a:off x="5139158" y="1853248"/>
            <a:ext cx="6918469" cy="38723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169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F3BC-4BBD-4D3F-A7F9-D2DC0141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244" y="464666"/>
            <a:ext cx="8892208" cy="1075883"/>
          </a:xfrm>
        </p:spPr>
        <p:txBody>
          <a:bodyPr/>
          <a:lstStyle/>
          <a:p>
            <a:pPr algn="ctr"/>
            <a:r>
              <a:rPr lang="en-US" dirty="0"/>
              <a:t>Random Forest Model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737A9D-6E2B-4A9F-BC43-302FEBE37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68991" y="3034781"/>
            <a:ext cx="10709865" cy="39201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35FBDE-9F68-489A-9C5D-95A72478EB2D}"/>
              </a:ext>
            </a:extLst>
          </p:cNvPr>
          <p:cNvSpPr txBox="1">
            <a:spLocks/>
          </p:cNvSpPr>
          <p:nvPr/>
        </p:nvSpPr>
        <p:spPr>
          <a:xfrm>
            <a:off x="6881439" y="1703693"/>
            <a:ext cx="385638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8ED0A7-A5EA-4565-8AEA-C0A4556AB4DB}"/>
              </a:ext>
            </a:extLst>
          </p:cNvPr>
          <p:cNvSpPr txBox="1">
            <a:spLocks/>
          </p:cNvSpPr>
          <p:nvPr/>
        </p:nvSpPr>
        <p:spPr>
          <a:xfrm>
            <a:off x="968991" y="1703694"/>
            <a:ext cx="4179033" cy="17253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Random Forest Classification</a:t>
            </a:r>
          </a:p>
          <a:p>
            <a:r>
              <a:rPr lang="en-US" dirty="0"/>
              <a:t>Provides the importance of variables/features</a:t>
            </a:r>
          </a:p>
        </p:txBody>
      </p:sp>
    </p:spTree>
    <p:extLst>
      <p:ext uri="{BB962C8B-B14F-4D97-AF65-F5344CB8AC3E}">
        <p14:creationId xmlns:p14="http://schemas.microsoft.com/office/powerpoint/2010/main" val="414213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E559-8B71-4D47-A8F1-10EC1574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901" y="626736"/>
            <a:ext cx="6354335" cy="1049235"/>
          </a:xfrm>
        </p:spPr>
        <p:txBody>
          <a:bodyPr/>
          <a:lstStyle/>
          <a:p>
            <a:r>
              <a:rPr lang="en-US" dirty="0"/>
              <a:t>Feature Importance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329D5A-587A-4477-815A-398C6CA76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44860" y="1675971"/>
            <a:ext cx="10708739" cy="488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780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E559-8B71-4D47-A8F1-10EC1574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346" y="461930"/>
            <a:ext cx="6354335" cy="1049235"/>
          </a:xfrm>
        </p:spPr>
        <p:txBody>
          <a:bodyPr/>
          <a:lstStyle/>
          <a:p>
            <a:pPr algn="ctr"/>
            <a:r>
              <a:rPr lang="en-US" dirty="0"/>
              <a:t>Neural Network Model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329D5A-587A-4477-815A-398C6CA76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891514" y="1340305"/>
            <a:ext cx="5926238" cy="55394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323C35-52EA-974D-BFAD-A8D5E2F56E63}"/>
              </a:ext>
            </a:extLst>
          </p:cNvPr>
          <p:cNvSpPr txBox="1">
            <a:spLocks/>
          </p:cNvSpPr>
          <p:nvPr/>
        </p:nvSpPr>
        <p:spPr>
          <a:xfrm>
            <a:off x="696775" y="1675971"/>
            <a:ext cx="4697028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Full Sample Accuracy - 0.849</a:t>
            </a:r>
          </a:p>
          <a:p>
            <a:r>
              <a:rPr lang="en-US" dirty="0"/>
              <a:t>Partial Sample Accuracy - 0.872</a:t>
            </a:r>
          </a:p>
          <a:p>
            <a:r>
              <a:rPr lang="en-US" dirty="0"/>
              <a:t>44 Inputs, 7 Nodes, 4 Deep Learning Layers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3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20CB-0667-48C3-AC9F-EFF7BAEB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148" y="452718"/>
            <a:ext cx="6101686" cy="1400530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A2A1B-0476-4973-A7EC-58F6E8A33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- Age, Monthly Income, Total Working Years and Years at Company features are high indicators of Attrition</a:t>
            </a:r>
          </a:p>
          <a:p>
            <a:pPr lvl="1"/>
            <a:r>
              <a:rPr lang="en-US" dirty="0"/>
              <a:t>Accuracy 0.97</a:t>
            </a:r>
          </a:p>
          <a:p>
            <a:r>
              <a:rPr lang="en-US" dirty="0"/>
              <a:t>Logistic Regression Accuracy 0.84</a:t>
            </a:r>
          </a:p>
          <a:p>
            <a:r>
              <a:rPr lang="en-US" dirty="0"/>
              <a:t>Neural Network Accuracy 0.87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75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C0FE-C1B0-4182-8308-F1D64522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69" y="2249557"/>
            <a:ext cx="3536313" cy="1348380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3AB0-7371-42D7-AD05-ADAE3CE87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37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803</TotalTime>
  <Words>331</Words>
  <Application>Microsoft Macintosh PowerPoint</Application>
  <PresentationFormat>Widescreen</PresentationFormat>
  <Paragraphs>67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Ion</vt:lpstr>
      <vt:lpstr>Employee Attrition</vt:lpstr>
      <vt:lpstr>Problem</vt:lpstr>
      <vt:lpstr>Exploratory Analysis</vt:lpstr>
      <vt:lpstr>Matplotlib and Seaborn Research</vt:lpstr>
      <vt:lpstr>Correlation Matrix</vt:lpstr>
      <vt:lpstr>Tableau Research</vt:lpstr>
      <vt:lpstr>Monthly Income</vt:lpstr>
      <vt:lpstr>Major Exploratory Findings</vt:lpstr>
      <vt:lpstr>Logistic Regression Model</vt:lpstr>
      <vt:lpstr>Random Forest Model </vt:lpstr>
      <vt:lpstr>Feature Importance</vt:lpstr>
      <vt:lpstr>Neural Network Model</vt:lpstr>
      <vt:lpstr>Conclusions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Case Study</dc:title>
  <dc:creator>Robert Danielson</dc:creator>
  <cp:lastModifiedBy>Siwoo Lee</cp:lastModifiedBy>
  <cp:revision>90</cp:revision>
  <dcterms:created xsi:type="dcterms:W3CDTF">2019-07-30T23:32:24Z</dcterms:created>
  <dcterms:modified xsi:type="dcterms:W3CDTF">2019-08-08T22:29:19Z</dcterms:modified>
</cp:coreProperties>
</file>