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5" r:id="rId1"/>
  </p:sldMasterIdLst>
  <p:sldIdLst>
    <p:sldId id="256" r:id="rId2"/>
    <p:sldId id="257" r:id="rId3"/>
    <p:sldId id="263" r:id="rId4"/>
    <p:sldId id="259" r:id="rId5"/>
    <p:sldId id="258" r:id="rId6"/>
    <p:sldId id="260" r:id="rId7"/>
    <p:sldId id="261" r:id="rId8"/>
    <p:sldId id="266" r:id="rId9"/>
    <p:sldId id="267" r:id="rId10"/>
    <p:sldId id="268" r:id="rId11"/>
    <p:sldId id="272" r:id="rId12"/>
    <p:sldId id="275" r:id="rId13"/>
    <p:sldId id="284" r:id="rId14"/>
    <p:sldId id="276" r:id="rId15"/>
    <p:sldId id="283" r:id="rId16"/>
    <p:sldId id="281" r:id="rId17"/>
    <p:sldId id="264" r:id="rId18"/>
    <p:sldId id="28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454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831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125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714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8/6/2019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651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8/6/2019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732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8/6/2019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322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8/6/2019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644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841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236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547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470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878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8/6/2019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2180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8/6/2019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4855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8929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912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7753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vjchoudhary7/hr-analytics-case-study#general_data.csv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84005-762C-4A1F-8EE7-26FCE2D28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2069" y="338569"/>
            <a:ext cx="8825658" cy="3329581"/>
          </a:xfrm>
        </p:spPr>
        <p:txBody>
          <a:bodyPr/>
          <a:lstStyle/>
          <a:p>
            <a:r>
              <a:rPr lang="en-US" dirty="0"/>
              <a:t>HR Analytics 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ACFA21-5DD0-4093-842F-B423447461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64630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Robert Danielson</a:t>
            </a:r>
          </a:p>
          <a:p>
            <a:r>
              <a:rPr lang="en-US" dirty="0"/>
              <a:t>Isaac Winters</a:t>
            </a:r>
          </a:p>
          <a:p>
            <a:r>
              <a:rPr lang="en-US" dirty="0"/>
              <a:t>Greg Norman</a:t>
            </a:r>
          </a:p>
          <a:p>
            <a:r>
              <a:rPr lang="en-US" dirty="0" err="1"/>
              <a:t>Siwoo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428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2D6F5-7F3E-4DAD-A36A-5C5230502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7207" y="609601"/>
            <a:ext cx="4005402" cy="1044777"/>
          </a:xfrm>
        </p:spPr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17DA4-9D17-4318-8744-2DA1D9DA9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HR Data Analytics</a:t>
            </a:r>
          </a:p>
          <a:p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https://www.kaggle.com/vjchoudhary7/hr-analytics-case-study#general_data.csv</a:t>
            </a:r>
            <a:endParaRPr lang="en-US" dirty="0"/>
          </a:p>
          <a:p>
            <a:r>
              <a:rPr lang="en-US" dirty="0"/>
              <a:t>How can a company determine if a person is more likely to leave?</a:t>
            </a:r>
          </a:p>
          <a:p>
            <a:r>
              <a:rPr lang="en-US" dirty="0"/>
              <a:t>Machine Learning Methods: Linear Regression, Random Forest, 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4154515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CD49E-C3B7-48D9-BB83-017EA2BC9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095" y="399709"/>
            <a:ext cx="4774027" cy="991946"/>
          </a:xfrm>
        </p:spPr>
        <p:txBody>
          <a:bodyPr/>
          <a:lstStyle/>
          <a:p>
            <a:r>
              <a:rPr lang="en-US" dirty="0"/>
              <a:t>Data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02224-29A2-45A1-B62E-F256274E3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3358960" cy="3450613"/>
          </a:xfrm>
        </p:spPr>
        <p:txBody>
          <a:bodyPr/>
          <a:lstStyle/>
          <a:p>
            <a:r>
              <a:rPr lang="en-US" dirty="0"/>
              <a:t>Age</a:t>
            </a:r>
          </a:p>
          <a:p>
            <a:r>
              <a:rPr lang="en-US" dirty="0"/>
              <a:t>Attrition</a:t>
            </a:r>
          </a:p>
          <a:p>
            <a:r>
              <a:rPr lang="en-US" dirty="0"/>
              <a:t>Business Travel</a:t>
            </a:r>
          </a:p>
          <a:p>
            <a:r>
              <a:rPr lang="en-US" dirty="0"/>
              <a:t>Department</a:t>
            </a:r>
          </a:p>
          <a:p>
            <a:r>
              <a:rPr lang="en-US" dirty="0"/>
              <a:t>Distance From Home</a:t>
            </a:r>
          </a:p>
          <a:p>
            <a:r>
              <a:rPr lang="en-US" dirty="0"/>
              <a:t>Education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030E64F-A04B-4227-BB2F-05E14DABE5FE}"/>
              </a:ext>
            </a:extLst>
          </p:cNvPr>
          <p:cNvSpPr txBox="1">
            <a:spLocks/>
          </p:cNvSpPr>
          <p:nvPr/>
        </p:nvSpPr>
        <p:spPr>
          <a:xfrm>
            <a:off x="4810540" y="2015731"/>
            <a:ext cx="2862469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Education</a:t>
            </a:r>
          </a:p>
          <a:p>
            <a:r>
              <a:rPr lang="en-US" dirty="0"/>
              <a:t>Education Field</a:t>
            </a:r>
          </a:p>
          <a:p>
            <a:r>
              <a:rPr lang="en-US" dirty="0"/>
              <a:t>Employee Count</a:t>
            </a:r>
          </a:p>
          <a:p>
            <a:r>
              <a:rPr lang="en-US" dirty="0"/>
              <a:t>Employee ID</a:t>
            </a:r>
          </a:p>
          <a:p>
            <a:r>
              <a:rPr lang="en-US" dirty="0"/>
              <a:t>Gender</a:t>
            </a:r>
          </a:p>
          <a:p>
            <a:r>
              <a:rPr lang="en-US" dirty="0"/>
              <a:t>Job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A3C448-4E5A-4FBB-8CA3-4624F6ABDD3E}"/>
              </a:ext>
            </a:extLst>
          </p:cNvPr>
          <p:cNvSpPr txBox="1">
            <a:spLocks/>
          </p:cNvSpPr>
          <p:nvPr/>
        </p:nvSpPr>
        <p:spPr>
          <a:xfrm>
            <a:off x="7673009" y="2015731"/>
            <a:ext cx="3856382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Job Role</a:t>
            </a:r>
          </a:p>
          <a:p>
            <a:r>
              <a:rPr lang="en-US" dirty="0"/>
              <a:t>Marital Status</a:t>
            </a:r>
          </a:p>
          <a:p>
            <a:r>
              <a:rPr lang="en-US" dirty="0"/>
              <a:t>Monthly Income</a:t>
            </a:r>
          </a:p>
          <a:p>
            <a:r>
              <a:rPr lang="en-US" dirty="0"/>
              <a:t>Number of Companies Worked</a:t>
            </a:r>
          </a:p>
          <a:p>
            <a:r>
              <a:rPr lang="en-US" dirty="0"/>
              <a:t>Total Working Years</a:t>
            </a:r>
          </a:p>
          <a:p>
            <a:r>
              <a:rPr lang="en-US" dirty="0"/>
              <a:t>Years With Current Manager</a:t>
            </a:r>
          </a:p>
        </p:txBody>
      </p:sp>
    </p:spTree>
    <p:extLst>
      <p:ext uri="{BB962C8B-B14F-4D97-AF65-F5344CB8AC3E}">
        <p14:creationId xmlns:p14="http://schemas.microsoft.com/office/powerpoint/2010/main" val="1855722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4FDCB-0CF7-4349-8911-74FFE9D1F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2321" y="609601"/>
            <a:ext cx="5542654" cy="1084534"/>
          </a:xfrm>
        </p:spPr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C99C7-E68E-46E0-B1A2-6E4430922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 Dependencies: Pandas, </a:t>
            </a:r>
            <a:r>
              <a:rPr lang="en-US" dirty="0" err="1"/>
              <a:t>Numpy</a:t>
            </a:r>
            <a:r>
              <a:rPr lang="en-US" dirty="0"/>
              <a:t>, Seaborn, SQLite</a:t>
            </a:r>
          </a:p>
          <a:p>
            <a:r>
              <a:rPr lang="en-US" dirty="0"/>
              <a:t>Clean Dataset</a:t>
            </a:r>
          </a:p>
          <a:p>
            <a:r>
              <a:rPr lang="en-US" dirty="0"/>
              <a:t>Drop Useless Columns</a:t>
            </a:r>
          </a:p>
          <a:p>
            <a:r>
              <a:rPr lang="en-US" dirty="0"/>
              <a:t>Convert “Monthly Income” Column From Indian Rupees to USD</a:t>
            </a:r>
          </a:p>
          <a:p>
            <a:r>
              <a:rPr lang="en-US" dirty="0"/>
              <a:t>Copy Categorical Data</a:t>
            </a:r>
          </a:p>
          <a:p>
            <a:r>
              <a:rPr lang="en-US" dirty="0"/>
              <a:t>Produce Random Forest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648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FF3BC-4BBD-4D3F-A7F9-D2DC01414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589" y="491170"/>
            <a:ext cx="5595663" cy="1075883"/>
          </a:xfrm>
        </p:spPr>
        <p:txBody>
          <a:bodyPr/>
          <a:lstStyle/>
          <a:p>
            <a:r>
              <a:rPr lang="en-US" dirty="0"/>
              <a:t>Random Forest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3737A9D-6E2B-4A9F-BC43-302FEBE37D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0840" t="24170" r="2239" b="21941"/>
          <a:stretch/>
        </p:blipFill>
        <p:spPr>
          <a:xfrm>
            <a:off x="1331843" y="1383996"/>
            <a:ext cx="9528314" cy="472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137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0E559-8B71-4D47-A8F1-10EC1574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8432" y="626736"/>
            <a:ext cx="5452804" cy="1049235"/>
          </a:xfrm>
        </p:spPr>
        <p:txBody>
          <a:bodyPr/>
          <a:lstStyle/>
          <a:p>
            <a:r>
              <a:rPr lang="en-US" dirty="0"/>
              <a:t>Attrition Rate</a:t>
            </a:r>
          </a:p>
        </p:txBody>
      </p:sp>
      <p:pic>
        <p:nvPicPr>
          <p:cNvPr id="9" name="Content Placeholder 8" descr="A screenshot of a computer&#10;&#10;Description automatically generated">
            <a:extLst>
              <a:ext uri="{FF2B5EF4-FFF2-40B4-BE49-F238E27FC236}">
                <a16:creationId xmlns:a16="http://schemas.microsoft.com/office/drawing/2014/main" id="{89329D5A-587A-4477-815A-398C6CA76D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3976" t="22301" r="10451" b="13378"/>
          <a:stretch/>
        </p:blipFill>
        <p:spPr>
          <a:xfrm>
            <a:off x="1120726" y="1488548"/>
            <a:ext cx="9719553" cy="4718296"/>
          </a:xfrm>
        </p:spPr>
      </p:pic>
    </p:spTree>
    <p:extLst>
      <p:ext uri="{BB962C8B-B14F-4D97-AF65-F5344CB8AC3E}">
        <p14:creationId xmlns:p14="http://schemas.microsoft.com/office/powerpoint/2010/main" val="467808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4595C-2934-444F-AC45-6C6A71E76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0215" y="571988"/>
            <a:ext cx="4098167" cy="991769"/>
          </a:xfrm>
        </p:spPr>
        <p:txBody>
          <a:bodyPr/>
          <a:lstStyle/>
          <a:p>
            <a:r>
              <a:rPr lang="en-US" dirty="0"/>
              <a:t>Attrition Rate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F9B33037-DB9D-441C-BFC9-DC9AB26DD0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5122" t="26785" r="9306" b="23055"/>
          <a:stretch/>
        </p:blipFill>
        <p:spPr>
          <a:xfrm>
            <a:off x="1029984" y="1457739"/>
            <a:ext cx="10759300" cy="4627251"/>
          </a:xfrm>
        </p:spPr>
      </p:pic>
    </p:spTree>
    <p:extLst>
      <p:ext uri="{BB962C8B-B14F-4D97-AF65-F5344CB8AC3E}">
        <p14:creationId xmlns:p14="http://schemas.microsoft.com/office/powerpoint/2010/main" val="2716798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33724-006E-4308-9519-94F1FDB01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658040"/>
            <a:ext cx="9404723" cy="1400530"/>
          </a:xfrm>
        </p:spPr>
        <p:txBody>
          <a:bodyPr/>
          <a:lstStyle/>
          <a:p>
            <a:r>
              <a:rPr lang="en-US" sz="3200" dirty="0"/>
              <a:t>Monthly Income Vs Years At Company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1FA53289-901A-4CA3-8837-01AF67CC73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8790" t="40957" r="38423" b="13379"/>
          <a:stretch/>
        </p:blipFill>
        <p:spPr>
          <a:xfrm>
            <a:off x="2244173" y="1476122"/>
            <a:ext cx="7703654" cy="4929160"/>
          </a:xfrm>
        </p:spPr>
      </p:pic>
    </p:spTree>
    <p:extLst>
      <p:ext uri="{BB962C8B-B14F-4D97-AF65-F5344CB8AC3E}">
        <p14:creationId xmlns:p14="http://schemas.microsoft.com/office/powerpoint/2010/main" val="1424151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10A57-C7D7-4E60-A37A-F0604C470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4025" y="544725"/>
            <a:ext cx="6324532" cy="1400530"/>
          </a:xfrm>
        </p:spPr>
        <p:txBody>
          <a:bodyPr/>
          <a:lstStyle/>
          <a:p>
            <a:r>
              <a:rPr lang="en-US" dirty="0"/>
              <a:t>Job Level Vs Attrition</a:t>
            </a:r>
          </a:p>
        </p:txBody>
      </p:sp>
      <p:pic>
        <p:nvPicPr>
          <p:cNvPr id="11" name="Content Placeholder 10" descr="A screenshot of a computer&#10;&#10;Description automatically generated">
            <a:extLst>
              <a:ext uri="{FF2B5EF4-FFF2-40B4-BE49-F238E27FC236}">
                <a16:creationId xmlns:a16="http://schemas.microsoft.com/office/drawing/2014/main" id="{F5BF1006-A59B-41F2-81A9-94AE3F8847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5123" t="43914" r="29481" b="20200"/>
          <a:stretch/>
        </p:blipFill>
        <p:spPr>
          <a:xfrm>
            <a:off x="1213723" y="1537253"/>
            <a:ext cx="10316817" cy="4585251"/>
          </a:xfrm>
        </p:spPr>
      </p:pic>
    </p:spTree>
    <p:extLst>
      <p:ext uri="{BB962C8B-B14F-4D97-AF65-F5344CB8AC3E}">
        <p14:creationId xmlns:p14="http://schemas.microsoft.com/office/powerpoint/2010/main" val="1302431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33ADE-F4E6-4AFC-A1C0-DE17F9A23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1913" y="280439"/>
            <a:ext cx="4572000" cy="938760"/>
          </a:xfrm>
        </p:spPr>
        <p:txBody>
          <a:bodyPr/>
          <a:lstStyle/>
          <a:p>
            <a:r>
              <a:rPr lang="en-US" dirty="0"/>
              <a:t>General Data</a:t>
            </a:r>
          </a:p>
        </p:txBody>
      </p:sp>
      <p:pic>
        <p:nvPicPr>
          <p:cNvPr id="5" name="Content Placeholder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2214DFA-A257-4BA4-A9DB-0C9425B04E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9937" t="25155" r="1968" b="7557"/>
          <a:stretch/>
        </p:blipFill>
        <p:spPr>
          <a:xfrm>
            <a:off x="1512581" y="1361853"/>
            <a:ext cx="9275299" cy="4955963"/>
          </a:xfrm>
        </p:spPr>
      </p:pic>
    </p:spTree>
    <p:extLst>
      <p:ext uri="{BB962C8B-B14F-4D97-AF65-F5344CB8AC3E}">
        <p14:creationId xmlns:p14="http://schemas.microsoft.com/office/powerpoint/2010/main" val="2260805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35A52-3172-440F-9241-C5624D717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0442" y="452717"/>
            <a:ext cx="7132915" cy="1400530"/>
          </a:xfrm>
        </p:spPr>
        <p:txBody>
          <a:bodyPr/>
          <a:lstStyle/>
          <a:p>
            <a:r>
              <a:rPr lang="en-US" dirty="0"/>
              <a:t>Environmental Balance</a:t>
            </a:r>
          </a:p>
        </p:txBody>
      </p:sp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8621C00E-4531-4F89-BEC1-4548BEDEBB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056" t="4183" b="2208"/>
          <a:stretch/>
        </p:blipFill>
        <p:spPr>
          <a:xfrm>
            <a:off x="1765952" y="1237509"/>
            <a:ext cx="8570744" cy="5167774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CBDC9E-C569-48AB-B104-003D4D4AD70A}"/>
              </a:ext>
            </a:extLst>
          </p:cNvPr>
          <p:cNvSpPr txBox="1">
            <a:spLocks/>
          </p:cNvSpPr>
          <p:nvPr/>
        </p:nvSpPr>
        <p:spPr>
          <a:xfrm>
            <a:off x="8173179" y="3385930"/>
            <a:ext cx="2252869" cy="26837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Low = 1</a:t>
            </a:r>
          </a:p>
          <a:p>
            <a:r>
              <a:rPr lang="en-US" dirty="0">
                <a:solidFill>
                  <a:schemeClr val="bg1"/>
                </a:solidFill>
              </a:rPr>
              <a:t>Medium = 2 </a:t>
            </a:r>
          </a:p>
          <a:p>
            <a:r>
              <a:rPr lang="en-US" dirty="0">
                <a:solidFill>
                  <a:schemeClr val="bg1"/>
                </a:solidFill>
              </a:rPr>
              <a:t>High = 3 </a:t>
            </a:r>
          </a:p>
          <a:p>
            <a:r>
              <a:rPr lang="en-US" dirty="0">
                <a:solidFill>
                  <a:schemeClr val="bg1"/>
                </a:solidFill>
              </a:rPr>
              <a:t>Very High = 4</a:t>
            </a:r>
          </a:p>
        </p:txBody>
      </p:sp>
    </p:spTree>
    <p:extLst>
      <p:ext uri="{BB962C8B-B14F-4D97-AF65-F5344CB8AC3E}">
        <p14:creationId xmlns:p14="http://schemas.microsoft.com/office/powerpoint/2010/main" val="1562654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F7A5A-5C97-4181-B80C-0A0F4047F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554" y="184993"/>
            <a:ext cx="6178760" cy="1400530"/>
          </a:xfrm>
        </p:spPr>
        <p:txBody>
          <a:bodyPr/>
          <a:lstStyle/>
          <a:p>
            <a:r>
              <a:rPr lang="en-US" dirty="0"/>
              <a:t>Job Satisfaction</a:t>
            </a:r>
          </a:p>
        </p:txBody>
      </p:sp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6A2D870C-BB41-4CD8-8C61-D3165EC90A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0" t="4727"/>
          <a:stretch/>
        </p:blipFill>
        <p:spPr>
          <a:xfrm>
            <a:off x="1378226" y="885258"/>
            <a:ext cx="8905461" cy="5354796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9069A43-0A07-4ABB-BC15-E1EA7BAE0CC0}"/>
              </a:ext>
            </a:extLst>
          </p:cNvPr>
          <p:cNvSpPr txBox="1">
            <a:spLocks/>
          </p:cNvSpPr>
          <p:nvPr/>
        </p:nvSpPr>
        <p:spPr>
          <a:xfrm>
            <a:off x="8030818" y="3166361"/>
            <a:ext cx="2252869" cy="26837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Low = 1</a:t>
            </a:r>
          </a:p>
          <a:p>
            <a:r>
              <a:rPr lang="en-US" dirty="0">
                <a:solidFill>
                  <a:schemeClr val="bg1"/>
                </a:solidFill>
              </a:rPr>
              <a:t>Medium = 2 </a:t>
            </a:r>
          </a:p>
          <a:p>
            <a:r>
              <a:rPr lang="en-US" dirty="0">
                <a:solidFill>
                  <a:schemeClr val="bg1"/>
                </a:solidFill>
              </a:rPr>
              <a:t>High = 3 </a:t>
            </a:r>
          </a:p>
          <a:p>
            <a:r>
              <a:rPr lang="en-US" dirty="0">
                <a:solidFill>
                  <a:schemeClr val="bg1"/>
                </a:solidFill>
              </a:rPr>
              <a:t>Very High = 4</a:t>
            </a:r>
          </a:p>
        </p:txBody>
      </p:sp>
    </p:spTree>
    <p:extLst>
      <p:ext uri="{BB962C8B-B14F-4D97-AF65-F5344CB8AC3E}">
        <p14:creationId xmlns:p14="http://schemas.microsoft.com/office/powerpoint/2010/main" val="3798262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30929-A9CD-4243-A1DD-A69A7DD20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69" y="452717"/>
            <a:ext cx="6563072" cy="1400530"/>
          </a:xfrm>
        </p:spPr>
        <p:txBody>
          <a:bodyPr/>
          <a:lstStyle/>
          <a:p>
            <a:r>
              <a:rPr lang="en-US" dirty="0"/>
              <a:t>Work Life Balance</a:t>
            </a:r>
          </a:p>
        </p:txBody>
      </p:sp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DE860EC3-C4AD-48E6-BB3B-5A82F338B6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67" t="4331" b="2330"/>
          <a:stretch/>
        </p:blipFill>
        <p:spPr>
          <a:xfrm>
            <a:off x="1372310" y="1218865"/>
            <a:ext cx="8678524" cy="5186418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BDF2653-9E6E-4DAD-A3C5-36E77323198F}"/>
              </a:ext>
            </a:extLst>
          </p:cNvPr>
          <p:cNvSpPr txBox="1">
            <a:spLocks/>
          </p:cNvSpPr>
          <p:nvPr/>
        </p:nvSpPr>
        <p:spPr>
          <a:xfrm>
            <a:off x="7991061" y="3149754"/>
            <a:ext cx="2252869" cy="26837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Bad = 1</a:t>
            </a:r>
          </a:p>
          <a:p>
            <a:r>
              <a:rPr lang="en-US" dirty="0">
                <a:solidFill>
                  <a:schemeClr val="bg1"/>
                </a:solidFill>
              </a:rPr>
              <a:t>Good = 2 </a:t>
            </a:r>
          </a:p>
          <a:p>
            <a:r>
              <a:rPr lang="en-US" dirty="0">
                <a:solidFill>
                  <a:schemeClr val="bg1"/>
                </a:solidFill>
              </a:rPr>
              <a:t>Better = 3 </a:t>
            </a:r>
          </a:p>
          <a:p>
            <a:r>
              <a:rPr lang="en-US" dirty="0">
                <a:solidFill>
                  <a:schemeClr val="bg1"/>
                </a:solidFill>
              </a:rPr>
              <a:t>Best = 4</a:t>
            </a:r>
          </a:p>
        </p:txBody>
      </p:sp>
    </p:spTree>
    <p:extLst>
      <p:ext uri="{BB962C8B-B14F-4D97-AF65-F5344CB8AC3E}">
        <p14:creationId xmlns:p14="http://schemas.microsoft.com/office/powerpoint/2010/main" val="1417439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512AA-B653-40C8-ABAA-62F927A39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Marital Status</a:t>
            </a:r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D9C100B0-C039-490B-99C4-A4ACF2D11E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4099" b="3970"/>
          <a:stretch/>
        </p:blipFill>
        <p:spPr>
          <a:xfrm>
            <a:off x="5033099" y="452718"/>
            <a:ext cx="3156744" cy="5963609"/>
          </a:xfrm>
        </p:spPr>
      </p:pic>
    </p:spTree>
    <p:extLst>
      <p:ext uri="{BB962C8B-B14F-4D97-AF65-F5344CB8AC3E}">
        <p14:creationId xmlns:p14="http://schemas.microsoft.com/office/powerpoint/2010/main" val="2837364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03EB8-DAA8-4FAE-92E7-CE2ACBFFD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2407" y="532231"/>
            <a:ext cx="5145089" cy="1400530"/>
          </a:xfrm>
        </p:spPr>
        <p:txBody>
          <a:bodyPr/>
          <a:lstStyle/>
          <a:p>
            <a:r>
              <a:rPr lang="en-US" dirty="0"/>
              <a:t>Travel Rate</a:t>
            </a:r>
          </a:p>
        </p:txBody>
      </p:sp>
      <p:pic>
        <p:nvPicPr>
          <p:cNvPr id="9" name="Content Placeholder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A7DF4684-B96E-4A85-9C05-6FC1CA753F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9818" y="2899350"/>
            <a:ext cx="10570700" cy="1681702"/>
          </a:xfrm>
        </p:spPr>
      </p:pic>
    </p:spTree>
    <p:extLst>
      <p:ext uri="{BB962C8B-B14F-4D97-AF65-F5344CB8AC3E}">
        <p14:creationId xmlns:p14="http://schemas.microsoft.com/office/powerpoint/2010/main" val="1367083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925C3-94C6-49A8-9951-64D9D22EA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625" y="452718"/>
            <a:ext cx="7013646" cy="1400530"/>
          </a:xfrm>
        </p:spPr>
        <p:txBody>
          <a:bodyPr/>
          <a:lstStyle/>
          <a:p>
            <a:r>
              <a:rPr lang="en-US" dirty="0"/>
              <a:t>Monthly Income</a:t>
            </a:r>
          </a:p>
        </p:txBody>
      </p:sp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7ED88A02-DD3F-408C-8EF0-E2903D56C9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5" t="4229" r="-200" b="2052"/>
          <a:stretch/>
        </p:blipFill>
        <p:spPr>
          <a:xfrm>
            <a:off x="1853971" y="1395958"/>
            <a:ext cx="8484057" cy="5009324"/>
          </a:xfrm>
        </p:spPr>
      </p:pic>
    </p:spTree>
    <p:extLst>
      <p:ext uri="{BB962C8B-B14F-4D97-AF65-F5344CB8AC3E}">
        <p14:creationId xmlns:p14="http://schemas.microsoft.com/office/powerpoint/2010/main" val="2925812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720CB-0667-48C3-AC9F-EFF7BAEB2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148" y="452718"/>
            <a:ext cx="6101686" cy="1400530"/>
          </a:xfrm>
        </p:spPr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A2A1B-0476-4973-A7EC-58F6E8A33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Monthly Income is #1 Factor in Attrition Rate</a:t>
            </a:r>
          </a:p>
          <a:p>
            <a:r>
              <a:rPr lang="en-US" dirty="0"/>
              <a:t>25% Attrition Rate of “Travel Frequently” Employees</a:t>
            </a:r>
          </a:p>
          <a:p>
            <a:r>
              <a:rPr lang="en-US" dirty="0"/>
              <a:t>Divorced People Leave The Least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575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FC0FE-C1B0-4182-8308-F1D645225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269" y="2249557"/>
            <a:ext cx="3536313" cy="1348380"/>
          </a:xfrm>
        </p:spPr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93AB0-7371-42D7-AD05-ADAE3CE87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377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561</TotalTime>
  <Words>227</Words>
  <Application>Microsoft Office PowerPoint</Application>
  <PresentationFormat>Widescreen</PresentationFormat>
  <Paragraphs>65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Century Gothic</vt:lpstr>
      <vt:lpstr>Wingdings 3</vt:lpstr>
      <vt:lpstr>Ion</vt:lpstr>
      <vt:lpstr>HR Analytics Case Study</vt:lpstr>
      <vt:lpstr>Problem</vt:lpstr>
      <vt:lpstr>Data Variables</vt:lpstr>
      <vt:lpstr>Random Forest</vt:lpstr>
      <vt:lpstr>Random Forest </vt:lpstr>
      <vt:lpstr>Attrition Rate</vt:lpstr>
      <vt:lpstr>Attrition Rate</vt:lpstr>
      <vt:lpstr>Monthly Income Vs Years At Company</vt:lpstr>
      <vt:lpstr>Job Level Vs Attrition</vt:lpstr>
      <vt:lpstr>General Data</vt:lpstr>
      <vt:lpstr>Environmental Balance</vt:lpstr>
      <vt:lpstr>Job Satisfaction</vt:lpstr>
      <vt:lpstr>Work Life Balance</vt:lpstr>
      <vt:lpstr>Marital Status</vt:lpstr>
      <vt:lpstr>Travel Rate</vt:lpstr>
      <vt:lpstr>Monthly Income</vt:lpstr>
      <vt:lpstr>Conclusions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Analytics Case Study</dc:title>
  <dc:creator>Robert Danielson</dc:creator>
  <cp:lastModifiedBy>Robert Danielson</cp:lastModifiedBy>
  <cp:revision>47</cp:revision>
  <dcterms:created xsi:type="dcterms:W3CDTF">2019-07-30T23:32:24Z</dcterms:created>
  <dcterms:modified xsi:type="dcterms:W3CDTF">2019-08-07T00:37:49Z</dcterms:modified>
</cp:coreProperties>
</file>